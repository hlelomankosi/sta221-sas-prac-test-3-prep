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364" r:id="rId3"/>
    <p:sldId id="374" r:id="rId4"/>
    <p:sldId id="376" r:id="rId5"/>
    <p:sldId id="375" r:id="rId6"/>
    <p:sldId id="385" r:id="rId7"/>
    <p:sldId id="386" r:id="rId8"/>
    <p:sldId id="387" r:id="rId9"/>
    <p:sldId id="377" r:id="rId10"/>
  </p:sldIdLst>
  <p:sldSz cx="9906000" cy="6858000" type="A4"/>
  <p:notesSz cx="10409238" cy="72961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4DD034-75F4-5147-85C5-57B72AD43751}">
          <p14:sldIdLst>
            <p14:sldId id="256"/>
            <p14:sldId id="364"/>
            <p14:sldId id="374"/>
            <p14:sldId id="376"/>
            <p14:sldId id="375"/>
            <p14:sldId id="385"/>
            <p14:sldId id="386"/>
            <p14:sldId id="387"/>
            <p14:sldId id="3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hn M" initials="J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2374" autoAdjust="0"/>
  </p:normalViewPr>
  <p:slideViewPr>
    <p:cSldViewPr snapToGrid="0" snapToObjects="1">
      <p:cViewPr varScale="1">
        <p:scale>
          <a:sx n="80" d="100"/>
          <a:sy n="80" d="100"/>
        </p:scale>
        <p:origin x="1613" y="5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C605BAAB-8757-4FBD-9BED-960688D401C4}" type="datetimeFigureOut">
              <a:rPr lang="en-US" smtClean="0"/>
              <a:pPr/>
              <a:t>10/5/2023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4A9A6402-836E-4507-B641-B01FDFCE6F04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6002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1C2F6879-603E-754B-9B04-8AAE8D479E4C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28975" y="547688"/>
            <a:ext cx="3951288" cy="2735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1169" tIns="50585" rIns="101169" bIns="5058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40924" y="3465671"/>
            <a:ext cx="8327390" cy="3283268"/>
          </a:xfrm>
          <a:prstGeom prst="rect">
            <a:avLst/>
          </a:prstGeom>
        </p:spPr>
        <p:txBody>
          <a:bodyPr vert="horz" lIns="101169" tIns="50585" rIns="101169" bIns="5058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D14C1D86-6F9C-9646-B809-264C58FC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0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9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07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167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008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545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997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160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37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47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8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8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3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8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D5889-9C47-1542-89BF-71BA5CAEC00A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Baskerville Old Face"/>
          <a:ea typeface="+mj-ea"/>
          <a:cs typeface="Baskerville Old Fac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09228" y="2391346"/>
            <a:ext cx="52533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3200" dirty="0">
                <a:solidFill>
                  <a:schemeClr val="bg1"/>
                </a:solidFill>
              </a:rPr>
              <a:t>Controlling output using ODS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&amp;</a:t>
            </a:r>
            <a:r>
              <a:rPr lang="en-ZA" sz="3200" dirty="0">
                <a:solidFill>
                  <a:schemeClr val="bg1"/>
                </a:solidFill>
              </a:rPr>
              <a:t> Advanced SAS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698" y="5237526"/>
            <a:ext cx="3024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Matthew Valentine</a:t>
            </a:r>
          </a:p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Office: Tech Room Lab K2</a:t>
            </a:r>
          </a:p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mvalentine@uwc.ac.za</a:t>
            </a:r>
          </a:p>
        </p:txBody>
      </p:sp>
    </p:spTree>
    <p:extLst>
      <p:ext uri="{BB962C8B-B14F-4D97-AF65-F5344CB8AC3E}">
        <p14:creationId xmlns:p14="http://schemas.microsoft.com/office/powerpoint/2010/main" val="113034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ZoneTexte 10"/>
          <p:cNvSpPr txBox="1"/>
          <p:nvPr/>
        </p:nvSpPr>
        <p:spPr>
          <a:xfrm>
            <a:off x="1613222" y="547014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Learning objectives</a:t>
            </a:r>
          </a:p>
        </p:txBody>
      </p:sp>
      <p:sp>
        <p:nvSpPr>
          <p:cNvPr id="7" name="ZoneTexte 7"/>
          <p:cNvSpPr txBox="1"/>
          <p:nvPr/>
        </p:nvSpPr>
        <p:spPr>
          <a:xfrm>
            <a:off x="630770" y="1355285"/>
            <a:ext cx="79777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noProof="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To be able to specify ODS output format and destination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To be able to specify</a:t>
            </a:r>
            <a:r>
              <a:rPr kumimoji="0" lang="en-GB" sz="16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ODS style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To be able to use ODS graphics from SAS procedures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To be able to select specific tables for output</a:t>
            </a:r>
          </a:p>
          <a:p>
            <a:pPr lvl="1">
              <a:lnSpc>
                <a:spcPct val="200000"/>
              </a:lnSpc>
              <a:defRPr/>
            </a:pPr>
            <a:r>
              <a:rPr lang="en-GB" sz="16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To be able to use and Do Loops</a:t>
            </a:r>
          </a:p>
          <a:p>
            <a:pPr lvl="1">
              <a:lnSpc>
                <a:spcPct val="200000"/>
              </a:lnSpc>
              <a:defRPr/>
            </a:pPr>
            <a:r>
              <a:rPr lang="en-GB" sz="16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More information about Do Loops (Do Until)</a:t>
            </a:r>
          </a:p>
          <a:p>
            <a:pPr lvl="1">
              <a:lnSpc>
                <a:spcPct val="200000"/>
              </a:lnSpc>
              <a:defRPr/>
            </a:pPr>
            <a:r>
              <a:rPr lang="en-GB" sz="1600" dirty="0">
                <a:solidFill>
                  <a:prstClr val="black"/>
                </a:solidFill>
                <a:latin typeface="Book Antiqua" panose="02040602050305030304" pitchFamily="18" charset="0"/>
                <a:cs typeface="Book Antiqua"/>
              </a:rPr>
              <a:t>To be able to Transpose Datasets</a:t>
            </a:r>
          </a:p>
          <a:p>
            <a:pPr marL="742950" marR="0" lvl="1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13622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613222" y="547014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ODS</a:t>
            </a:r>
            <a:r>
              <a:rPr kumimoji="0" lang="en-GB" sz="2000" b="1" i="0" u="none" strike="noStrike" kern="1200" cap="small" spc="0" normalizeH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 FORMAT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1116758"/>
            <a:ext cx="7544059" cy="5231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The</a:t>
            </a:r>
            <a:r>
              <a:rPr kumimoji="0" lang="en-GB" sz="1400" b="1" i="0" u="sng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syntax required for ODS to receive an Output of Results:</a:t>
            </a:r>
            <a:endParaRPr lang="en-GB" sz="1400" b="1" u="sng" noProof="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 panose="02040602050305030304" pitchFamily="18" charset="0"/>
                <a:cs typeface="Book Antiqua"/>
              </a:rPr>
              <a:t>	ODS OUTPUT-FORMAT &lt;Options&gt;;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1" i="0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	to end the ODS Output, use the statement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 panose="02040602050305030304" pitchFamily="18" charset="0"/>
                <a:cs typeface="Book Antiqua"/>
              </a:rPr>
              <a:t>	ODS OUTPUT–FORMAT CLOSE;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40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b="1" u="sng" dirty="0">
                <a:latin typeface="Book Antiqua" panose="02040602050305030304" pitchFamily="18" charset="0"/>
                <a:cs typeface="Book Antiqua"/>
              </a:rPr>
              <a:t>B</a:t>
            </a:r>
            <a:r>
              <a:rPr lang="en-GB" sz="1400" b="1" u="sng" noProof="0" dirty="0" err="1">
                <a:latin typeface="Book Antiqua" panose="02040602050305030304" pitchFamily="18" charset="0"/>
                <a:cs typeface="Book Antiqua"/>
              </a:rPr>
              <a:t>elow</a:t>
            </a:r>
            <a:r>
              <a:rPr lang="en-GB" sz="1400" b="1" u="sng" noProof="0" dirty="0">
                <a:latin typeface="Book Antiqua" panose="02040602050305030304" pitchFamily="18" charset="0"/>
                <a:cs typeface="Book Antiqua"/>
              </a:rPr>
              <a:t> are various types of output formats that may be used: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 panose="02040602050305030304" pitchFamily="18" charset="0"/>
              </a:rPr>
              <a:t>	ODS HTML FILE = “html-file-pathname.html’;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 panose="02040602050305030304" pitchFamily="18" charset="0"/>
              </a:rPr>
              <a:t>	ODS PDF FILE = “pdf-file-pathname.pdf’;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 panose="02040602050305030304" pitchFamily="18" charset="0"/>
              </a:rPr>
              <a:t>	ODS RTF FILE = “rtf-file-pathname.rtf’;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400" dirty="0">
              <a:latin typeface="Book Antiqua" panose="0204060205030503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GB" sz="1400" b="1" u="sng" dirty="0">
                <a:latin typeface="Book Antiqua" panose="02040602050305030304" pitchFamily="18" charset="0"/>
                <a:cs typeface="Book Antiqua"/>
              </a:rPr>
              <a:t>Specifying the ODS Output Format and Destination:</a:t>
            </a:r>
          </a:p>
          <a:p>
            <a:pPr>
              <a:lnSpc>
                <a:spcPct val="200000"/>
              </a:lnSpc>
            </a:pPr>
            <a:r>
              <a:rPr lang="en-GB" sz="1400" dirty="0">
                <a:latin typeface="Book Antiqua" panose="02040602050305030304" pitchFamily="18" charset="0"/>
                <a:cs typeface="Book Antiqua"/>
              </a:rPr>
              <a:t>		SAS can output into various formats for easier browsing.</a:t>
            </a:r>
          </a:p>
          <a:p>
            <a:pPr>
              <a:lnSpc>
                <a:spcPct val="200000"/>
              </a:lnSpc>
            </a:pPr>
            <a:r>
              <a:rPr lang="en-GB" sz="1400" dirty="0">
                <a:latin typeface="Book Antiqua" panose="02040602050305030304" pitchFamily="18" charset="0"/>
                <a:cs typeface="Book Antiqua"/>
              </a:rPr>
              <a:t>		HTML, RTF and PDF are the most common output formats </a:t>
            </a:r>
          </a:p>
          <a:p>
            <a:pPr>
              <a:lnSpc>
                <a:spcPct val="200000"/>
              </a:lnSpc>
            </a:pPr>
            <a:r>
              <a:rPr lang="en-GB" sz="1400" dirty="0">
                <a:latin typeface="Book Antiqua" panose="02040602050305030304" pitchFamily="18" charset="0"/>
                <a:cs typeface="Book Antiqua"/>
              </a:rPr>
              <a:t>		Declare the ODS statements before and after the output you wish to output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400" dirty="0">
              <a:latin typeface="Book Antiqua" panose="02040602050305030304" pitchFamily="18" charset="0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4302709" y="6121250"/>
            <a:ext cx="6646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3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noProof="0" dirty="0">
                <a:solidFill>
                  <a:srgbClr val="FF0000"/>
                </a:solidFill>
                <a:latin typeface="Book Antiqua"/>
                <a:cs typeface="Book Antiqua"/>
              </a:rPr>
              <a:t>AFREQ1.SAS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31866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613222" y="346959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ODS STYLE</a:t>
            </a:r>
          </a:p>
        </p:txBody>
      </p:sp>
      <p:sp>
        <p:nvSpPr>
          <p:cNvPr id="7" name="ZoneTexte 7"/>
          <p:cNvSpPr txBox="1"/>
          <p:nvPr/>
        </p:nvSpPr>
        <p:spPr>
          <a:xfrm>
            <a:off x="123774" y="755368"/>
            <a:ext cx="7977753" cy="5569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5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Specifying ODS Output Style: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When the output information is seen, it has its own default style for its graphs, text and tables.</a:t>
            </a: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SAS allows one to alter the style of the graphs, text and tables by using the following syntax</a:t>
            </a:r>
          </a:p>
          <a:p>
            <a:pPr marL="457200" marR="0" lvl="1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				ODS RTF STYLE = JOURNAL;</a:t>
            </a:r>
          </a:p>
          <a:p>
            <a:pPr marL="457200" marR="0" lvl="1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				ODS RTF CLOSE;</a:t>
            </a:r>
          </a:p>
          <a:p>
            <a:pPr marL="457200" marR="0" lvl="1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 Antiqua" panose="02040602050305030304" pitchFamily="18" charset="0"/>
              <a:ea typeface="+mn-ea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In order to view the different types of styles, one can use the following procedure;</a:t>
            </a:r>
          </a:p>
          <a:p>
            <a:pPr marL="914400" marR="0" lvl="2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			PROC TEMPLATE;</a:t>
            </a:r>
          </a:p>
          <a:p>
            <a:pPr marL="914400" marR="0" lvl="2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			LIST STYLES;</a:t>
            </a:r>
          </a:p>
          <a:p>
            <a:pPr marL="914400" marR="0" lvl="2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ea typeface="+mn-ea"/>
                <a:cs typeface="Book Antiqua"/>
              </a:rPr>
              <a:t>			RUN;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302709" y="6127026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3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AFREQ1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76686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613222" y="346959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ODS OUTPUT</a:t>
            </a:r>
            <a:r>
              <a:rPr kumimoji="0" lang="en-GB" sz="2000" b="1" i="0" u="none" strike="noStrike" kern="1200" cap="small" spc="0" normalizeH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 TABLES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0" y="967645"/>
            <a:ext cx="9706708" cy="51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00" b="1" u="sng" dirty="0">
                <a:latin typeface="Book Antiqua" panose="02040602050305030304" pitchFamily="18" charset="0"/>
                <a:cs typeface="Book Antiqua"/>
              </a:rPr>
              <a:t>Using ODS to Select Specific Output Tables for Procedures: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All the results  (Output) are contained within tables.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30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One is able to customize which tables one wants to be in the Output to the ODS destination.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130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In order to specify which tables one wants in the Output, one would have to use the ODS TRACE. The syntax used 	for ODS TRACE are as follows;</a:t>
            </a:r>
          </a:p>
          <a:p>
            <a:pPr lvl="4">
              <a:lnSpc>
                <a:spcPct val="150000"/>
              </a:lnSpc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ODS TRACE ON;</a:t>
            </a:r>
          </a:p>
          <a:p>
            <a:pPr lvl="4">
              <a:lnSpc>
                <a:spcPct val="150000"/>
              </a:lnSpc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Procedure specifications;</a:t>
            </a:r>
          </a:p>
          <a:p>
            <a:pPr lvl="4">
              <a:lnSpc>
                <a:spcPct val="150000"/>
              </a:lnSpc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ODS TRACE OFF;</a:t>
            </a:r>
          </a:p>
          <a:p>
            <a:pPr lvl="4">
              <a:lnSpc>
                <a:spcPct val="150000"/>
              </a:lnSpc>
              <a:defRPr/>
            </a:pPr>
            <a:endParaRPr lang="en-GB" sz="130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One can select specific tables by using the ODS – Output (HTML, PDF…ETC) SELECT options.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The following example;</a:t>
            </a:r>
          </a:p>
          <a:p>
            <a:pPr lvl="4">
              <a:lnSpc>
                <a:spcPct val="150000"/>
              </a:lnSpc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ODS HTML;</a:t>
            </a:r>
          </a:p>
          <a:p>
            <a:pPr lvl="4">
              <a:lnSpc>
                <a:spcPct val="150000"/>
              </a:lnSpc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ODS HTML SELECT tables-to-include;</a:t>
            </a:r>
          </a:p>
          <a:p>
            <a:pPr lvl="4">
              <a:lnSpc>
                <a:spcPct val="150000"/>
              </a:lnSpc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PROC FREQ code;</a:t>
            </a:r>
          </a:p>
          <a:p>
            <a:pPr lvl="4">
              <a:lnSpc>
                <a:spcPct val="150000"/>
              </a:lnSpc>
              <a:defRPr/>
            </a:pPr>
            <a:r>
              <a:rPr lang="en-GB" sz="1300" dirty="0">
                <a:latin typeface="Book Antiqua" panose="02040602050305030304" pitchFamily="18" charset="0"/>
                <a:cs typeface="Book Antiqua"/>
              </a:rPr>
              <a:t>	ODS HTML CLOSE;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539978" y="6107369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ODS3.SAS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191850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ZoneTexte 10"/>
          <p:cNvSpPr txBox="1"/>
          <p:nvPr/>
        </p:nvSpPr>
        <p:spPr>
          <a:xfrm>
            <a:off x="1613222" y="547014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DO LOOP</a:t>
            </a:r>
            <a:r>
              <a:rPr kumimoji="0" lang="en-GB" sz="2000" b="1" i="0" u="none" strike="noStrike" kern="1200" cap="small" spc="0" normalizeH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 STATEMENT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5" name="ZoneTexte 7"/>
          <p:cNvSpPr txBox="1"/>
          <p:nvPr/>
        </p:nvSpPr>
        <p:spPr>
          <a:xfrm>
            <a:off x="531916" y="967879"/>
            <a:ext cx="7977753" cy="504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A SAS DO LOOP is an iterative process whereby it runs until a specific condition has been met.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50" b="1" u="sng" dirty="0">
                <a:latin typeface="Book Antiqua" panose="02040602050305030304" pitchFamily="18" charset="0"/>
                <a:cs typeface="Book Antiqua"/>
              </a:rPr>
              <a:t>The syntax for the DO LOOP are as follows;</a:t>
            </a:r>
            <a:endParaRPr lang="en-GB" sz="1350" dirty="0">
              <a:latin typeface="Book Antiqua" panose="02040602050305030304" pitchFamily="18" charset="0"/>
              <a:cs typeface="Book Antiqua"/>
            </a:endParaRP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DO I = X to Y &lt;BY Z&gt;;</a:t>
            </a: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Statements;</a:t>
            </a: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END</a:t>
            </a:r>
          </a:p>
          <a:p>
            <a:pPr lvl="5">
              <a:lnSpc>
                <a:spcPct val="150000"/>
              </a:lnSpc>
              <a:defRPr/>
            </a:pPr>
            <a:endParaRPr lang="en-GB" sz="1350" dirty="0">
              <a:latin typeface="Book Antiqua" panose="02040602050305030304" pitchFamily="18" charset="0"/>
              <a:cs typeface="Book Antiqua"/>
            </a:endParaRP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X &amp; Y – are the lower and upper bounds of the loop.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Z – is optional and allows one to change the increments from its default of 1 unit.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	EG; 5 blood pressures were taken on each subject. If above 140, blood pressure is high and 	below 140 is low blood pressure.</a:t>
            </a: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DATA NEW: SET OLD;</a:t>
            </a: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ARRAY SBP(5) READING1-READING5;</a:t>
            </a: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HIGHBP = 0;</a:t>
            </a: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DO I = 1 TO 5;</a:t>
            </a: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IF SBP(I) GT 140 THEN HIGHBP =1;</a:t>
            </a:r>
          </a:p>
          <a:p>
            <a:pPr lvl="5">
              <a:lnSpc>
                <a:spcPct val="150000"/>
              </a:lnSpc>
              <a:defRPr/>
            </a:pPr>
            <a:r>
              <a:rPr lang="en-GB" sz="1350" dirty="0">
                <a:latin typeface="Book Antiqua" panose="02040602050305030304" pitchFamily="18" charset="0"/>
                <a:cs typeface="Book Antiqua"/>
              </a:rPr>
              <a:t>END;</a:t>
            </a:r>
          </a:p>
        </p:txBody>
      </p:sp>
      <p:sp>
        <p:nvSpPr>
          <p:cNvPr id="7" name="ZoneTexte 7"/>
          <p:cNvSpPr txBox="1"/>
          <p:nvPr/>
        </p:nvSpPr>
        <p:spPr>
          <a:xfrm>
            <a:off x="4130693" y="6053040"/>
            <a:ext cx="6646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3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noProof="0" dirty="0">
                <a:solidFill>
                  <a:srgbClr val="FF0000"/>
                </a:solidFill>
                <a:latin typeface="Book Antiqua"/>
                <a:cs typeface="Book Antiqua"/>
              </a:rPr>
              <a:t>DDOLOOP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80486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ZoneTexte 8"/>
          <p:cNvSpPr txBox="1"/>
          <p:nvPr/>
        </p:nvSpPr>
        <p:spPr>
          <a:xfrm>
            <a:off x="1924275" y="519967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Do-Until/While Statement</a:t>
            </a:r>
          </a:p>
        </p:txBody>
      </p:sp>
      <p:sp>
        <p:nvSpPr>
          <p:cNvPr id="5" name="ZoneTexte 7"/>
          <p:cNvSpPr txBox="1"/>
          <p:nvPr/>
        </p:nvSpPr>
        <p:spPr>
          <a:xfrm>
            <a:off x="1068123" y="1257255"/>
            <a:ext cx="7725152" cy="1010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The do-until  or do-while statement works similar to the simpler do statement</a:t>
            </a:r>
          </a:p>
          <a:p>
            <a:pPr marR="0" lvl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The loop will execute/run until the condition is met</a:t>
            </a:r>
          </a:p>
        </p:txBody>
      </p:sp>
      <p:sp>
        <p:nvSpPr>
          <p:cNvPr id="7" name="ZoneTexte 7"/>
          <p:cNvSpPr txBox="1"/>
          <p:nvPr/>
        </p:nvSpPr>
        <p:spPr>
          <a:xfrm>
            <a:off x="2276918" y="3996856"/>
            <a:ext cx="6168353" cy="141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DO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I = 1 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to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5 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UNTIL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(condition);</a:t>
            </a: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	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IF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SBP(I) 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GT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140 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THEN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HIGHBP = 1;</a:t>
            </a: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END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;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276918" y="2396704"/>
            <a:ext cx="4816974" cy="141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500" b="1" noProof="0" dirty="0">
                <a:latin typeface="Book Antiqua"/>
                <a:cs typeface="Book Antiqua"/>
              </a:rPr>
              <a:t>DO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WHILE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(condition);</a:t>
            </a: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	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IF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SBP(I) 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GT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140 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THEN</a:t>
            </a:r>
            <a:r>
              <a:rPr kumimoji="0" lang="en-GB" sz="15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HIGHBP = 1;</a:t>
            </a:r>
          </a:p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END</a:t>
            </a:r>
            <a:r>
              <a:rPr kumimoji="0" lang="en-GB" sz="1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;</a:t>
            </a:r>
          </a:p>
        </p:txBody>
      </p:sp>
      <p:sp>
        <p:nvSpPr>
          <p:cNvPr id="9" name="ZoneTexte 7"/>
          <p:cNvSpPr txBox="1"/>
          <p:nvPr/>
        </p:nvSpPr>
        <p:spPr>
          <a:xfrm>
            <a:off x="4254942" y="6035228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3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noProof="0" dirty="0">
                <a:solidFill>
                  <a:srgbClr val="FF0000"/>
                </a:solidFill>
                <a:latin typeface="Book Antiqua"/>
                <a:cs typeface="Book Antiqua"/>
              </a:rPr>
              <a:t>DWHILE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59105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ZoneTexte 8"/>
          <p:cNvSpPr txBox="1"/>
          <p:nvPr/>
        </p:nvSpPr>
        <p:spPr>
          <a:xfrm>
            <a:off x="1924275" y="536595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cap="small" dirty="0">
                <a:solidFill>
                  <a:srgbClr val="342E2B"/>
                </a:solidFill>
                <a:latin typeface="Book Antiqua"/>
                <a:cs typeface="Book Antiqua"/>
              </a:rPr>
              <a:t>Transposing Data Sets</a:t>
            </a:r>
            <a:endParaRPr kumimoji="0" lang="en-GB" sz="2000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5" name="ZoneTexte 7"/>
          <p:cNvSpPr txBox="1"/>
          <p:nvPr/>
        </p:nvSpPr>
        <p:spPr>
          <a:xfrm>
            <a:off x="469255" y="968706"/>
            <a:ext cx="7725152" cy="5251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Transposing allows one to restructures the values of the data set transposing the data.</a:t>
            </a: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This</a:t>
            </a:r>
            <a:r>
              <a:rPr kumimoji="0" lang="en-GB" sz="15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typically happens when one wants to perform an analysis on the data but the data set is not structured </a:t>
            </a:r>
            <a:r>
              <a:rPr lang="en-GB" sz="1500" noProof="0" dirty="0">
                <a:latin typeface="Book Antiqua" panose="02040602050305030304" pitchFamily="18" charset="0"/>
                <a:cs typeface="Book Antiqua"/>
              </a:rPr>
              <a:t>in the way needed.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500" b="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Book Antiqua" panose="02040602050305030304" pitchFamily="18" charset="0"/>
              <a:cs typeface="Book Antiqua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u="sng" noProof="0" dirty="0">
                <a:latin typeface="Book Antiqua" panose="02040602050305030304" pitchFamily="18" charset="0"/>
                <a:cs typeface="Book Antiqua"/>
              </a:rPr>
              <a:t>The syntax for PROC TRANSPOSE are as follows:</a:t>
            </a:r>
          </a:p>
          <a:p>
            <a:pPr lvl="4">
              <a:lnSpc>
                <a:spcPct val="150000"/>
              </a:lnSpc>
            </a:pPr>
            <a:r>
              <a:rPr kumimoji="0" lang="en-GB" sz="1500" i="0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PROC</a:t>
            </a:r>
            <a:r>
              <a:rPr kumimoji="0" lang="en-GB" sz="1500" i="0" strike="noStrike" kern="1200" cap="none" spc="0" normalizeH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TRANSPOSE DATA= INPUT-data OUT= output-data;</a:t>
            </a:r>
          </a:p>
          <a:p>
            <a:pPr lvl="4">
              <a:lnSpc>
                <a:spcPct val="150000"/>
              </a:lnSpc>
            </a:pPr>
            <a:r>
              <a:rPr lang="en-GB" sz="1500" baseline="0" noProof="0" dirty="0">
                <a:latin typeface="Book Antiqua" panose="02040602050305030304" pitchFamily="18" charset="0"/>
                <a:cs typeface="Book Antiqua"/>
              </a:rPr>
              <a:t>&lt;Prefix</a:t>
            </a:r>
            <a:r>
              <a:rPr lang="en-GB" sz="1500" noProof="0" dirty="0">
                <a:latin typeface="Book Antiqua" panose="02040602050305030304" pitchFamily="18" charset="0"/>
                <a:cs typeface="Book Antiqua"/>
              </a:rPr>
              <a:t> = prefix&gt;;</a:t>
            </a:r>
          </a:p>
          <a:p>
            <a:pPr lvl="4">
              <a:lnSpc>
                <a:spcPct val="150000"/>
              </a:lnSpc>
            </a:pPr>
            <a:r>
              <a:rPr kumimoji="0" lang="en-GB" sz="1500" i="0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&lt;BY</a:t>
            </a:r>
            <a:r>
              <a:rPr kumimoji="0" lang="en-GB" sz="1500" i="0" strike="noStrike" kern="1200" cap="none" spc="0" normalizeH="0" dirty="0">
                <a:ln>
                  <a:noFill/>
                </a:ln>
                <a:effectLst/>
                <a:uLnTx/>
                <a:uFillTx/>
                <a:latin typeface="Book Antiqua" panose="02040602050305030304" pitchFamily="18" charset="0"/>
                <a:cs typeface="Book Antiqua"/>
              </a:rPr>
              <a:t> &lt;variables&gt;;</a:t>
            </a:r>
          </a:p>
          <a:p>
            <a:pPr lvl="4">
              <a:lnSpc>
                <a:spcPct val="150000"/>
              </a:lnSpc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VAR variables;</a:t>
            </a:r>
          </a:p>
          <a:p>
            <a:pPr lvl="4">
              <a:lnSpc>
                <a:spcPct val="150000"/>
              </a:lnSpc>
            </a:pPr>
            <a:endParaRPr lang="en-GB" sz="1500" dirty="0">
              <a:latin typeface="Book Antiqua" panose="02040602050305030304" pitchFamily="18" charset="0"/>
              <a:cs typeface="Book Antiqua"/>
            </a:endParaRPr>
          </a:p>
          <a:p>
            <a:pPr lvl="0">
              <a:lnSpc>
                <a:spcPct val="150000"/>
              </a:lnSpc>
              <a:defRPr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The input data set is the data set to be transpose.</a:t>
            </a:r>
          </a:p>
          <a:p>
            <a:pPr lvl="0">
              <a:lnSpc>
                <a:spcPct val="150000"/>
              </a:lnSpc>
              <a:defRPr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The output data set us the resulting data set.</a:t>
            </a:r>
          </a:p>
          <a:p>
            <a:pPr lvl="0">
              <a:lnSpc>
                <a:spcPct val="150000"/>
              </a:lnSpc>
              <a:defRPr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The prefix specifies the names of the variables that are created via transposition. (Default; COL1, COL2, COL3…</a:t>
            </a:r>
            <a:r>
              <a:rPr lang="en-GB" sz="1500" dirty="0" err="1">
                <a:latin typeface="Book Antiqua" panose="02040602050305030304" pitchFamily="18" charset="0"/>
                <a:cs typeface="Book Antiqua"/>
              </a:rPr>
              <a:t>ect</a:t>
            </a:r>
            <a:r>
              <a:rPr lang="en-GB" sz="1500" dirty="0">
                <a:latin typeface="Book Antiqua" panose="02040602050305030304" pitchFamily="18" charset="0"/>
                <a:cs typeface="Book Antiqua"/>
              </a:rPr>
              <a:t>)</a:t>
            </a:r>
          </a:p>
          <a:p>
            <a:pPr lvl="4">
              <a:lnSpc>
                <a:spcPct val="150000"/>
              </a:lnSpc>
            </a:pPr>
            <a:endParaRPr lang="en-GB" sz="1500" dirty="0">
              <a:latin typeface="Book Antiqua" panose="02040602050305030304" pitchFamily="18" charset="0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3760922" y="5990377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3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noProof="0" dirty="0">
                <a:solidFill>
                  <a:srgbClr val="FF0000"/>
                </a:solidFill>
                <a:latin typeface="Book Antiqua"/>
                <a:cs typeface="Book Antiqua"/>
              </a:rPr>
              <a:t>DTRANSPOSE1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24350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br>
              <a:rPr lang="en-ZA" sz="2400" b="1" dirty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76730" y="5117023"/>
            <a:ext cx="31105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Matthew Valentine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Office: Tech Room Lab K2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2000" b="1" spc="50" dirty="0" err="1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/>
              </a:rPr>
              <a:t>mvalentine</a:t>
            </a:r>
            <a:r>
              <a:rPr kumimoji="0" lang="en-ZA" sz="2000" b="1" i="0" u="none" strike="noStrike" kern="1200" cap="none" spc="50" normalizeH="0" baseline="0" noProof="0" dirty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@uwc.ac.za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86306" y="2217329"/>
            <a:ext cx="32362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3600" dirty="0">
                <a:solidFill>
                  <a:prstClr val="white"/>
                </a:solidFill>
                <a:latin typeface="Calibri"/>
              </a:rPr>
              <a:t>Study –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15</a:t>
            </a:r>
            <a:r>
              <a:rPr kumimoji="0" lang="en-ZA" sz="36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&amp; 16</a:t>
            </a:r>
            <a:endParaRPr kumimoji="0" lang="en-ZA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4712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9139</TotalTime>
  <Words>893</Words>
  <Application>Microsoft Office PowerPoint</Application>
  <PresentationFormat>A4 Paper (210x297 mm)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Baskerville Old Face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NDorfling</dc:creator>
  <cp:lastModifiedBy>Admin</cp:lastModifiedBy>
  <cp:revision>577</cp:revision>
  <dcterms:created xsi:type="dcterms:W3CDTF">2015-03-11T08:56:03Z</dcterms:created>
  <dcterms:modified xsi:type="dcterms:W3CDTF">2023-10-05T11:41:52Z</dcterms:modified>
</cp:coreProperties>
</file>