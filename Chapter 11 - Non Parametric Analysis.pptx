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375" r:id="rId3"/>
    <p:sldId id="383" r:id="rId4"/>
    <p:sldId id="385" r:id="rId5"/>
    <p:sldId id="384" r:id="rId6"/>
    <p:sldId id="387" r:id="rId7"/>
    <p:sldId id="386" r:id="rId8"/>
    <p:sldId id="388" r:id="rId9"/>
    <p:sldId id="382" r:id="rId10"/>
  </p:sldIdLst>
  <p:sldSz cx="9906000" cy="6858000" type="A4"/>
  <p:notesSz cx="10409238" cy="72961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4DD034-75F4-5147-85C5-57B72AD43751}">
          <p14:sldIdLst>
            <p14:sldId id="256"/>
            <p14:sldId id="375"/>
            <p14:sldId id="383"/>
            <p14:sldId id="385"/>
            <p14:sldId id="384"/>
            <p14:sldId id="387"/>
            <p14:sldId id="386"/>
            <p14:sldId id="388"/>
            <p14:sldId id="3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hn M" initials="J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9" autoAdjust="0"/>
    <p:restoredTop sz="92374" autoAdjust="0"/>
  </p:normalViewPr>
  <p:slideViewPr>
    <p:cSldViewPr snapToGrid="0" snapToObjects="1">
      <p:cViewPr varScale="1">
        <p:scale>
          <a:sx n="102" d="100"/>
          <a:sy n="102" d="100"/>
        </p:scale>
        <p:origin x="1908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C605BAAB-8757-4FBD-9BED-960688D401C4}" type="datetimeFigureOut">
              <a:rPr lang="en-US" smtClean="0"/>
              <a:pPr/>
              <a:t>8/24/2025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4A9A6402-836E-4507-B641-B01FDFCE6F04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6002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1C2F6879-603E-754B-9B04-8AAE8D479E4C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28975" y="547688"/>
            <a:ext cx="3951288" cy="2735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1169" tIns="50585" rIns="101169" bIns="5058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40924" y="3465671"/>
            <a:ext cx="8327390" cy="3283268"/>
          </a:xfrm>
          <a:prstGeom prst="rect">
            <a:avLst/>
          </a:prstGeom>
        </p:spPr>
        <p:txBody>
          <a:bodyPr vert="horz" lIns="101169" tIns="50585" rIns="101169" bIns="5058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D14C1D86-6F9C-9646-B809-264C58FC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0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9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47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799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00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3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230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982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23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959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8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8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3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8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D5889-9C47-1542-89BF-71BA5CAEC00A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Baskerville Old Face"/>
          <a:ea typeface="+mj-ea"/>
          <a:cs typeface="Baskerville Old Fac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br>
              <a:rPr lang="en-ZA" sz="2400" b="1" dirty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39033" y="2293875"/>
            <a:ext cx="462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3600" dirty="0">
                <a:solidFill>
                  <a:schemeClr val="bg1"/>
                </a:solidFill>
              </a:rPr>
              <a:t>Nonparametric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6730" y="5117023"/>
            <a:ext cx="31105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Matthew Valentine</a:t>
            </a:r>
          </a:p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Office: Tech Room Lab K2</a:t>
            </a:r>
          </a:p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mvalentine@uwc.ac.za</a:t>
            </a:r>
          </a:p>
        </p:txBody>
      </p:sp>
    </p:spTree>
    <p:extLst>
      <p:ext uri="{BB962C8B-B14F-4D97-AF65-F5344CB8AC3E}">
        <p14:creationId xmlns:p14="http://schemas.microsoft.com/office/powerpoint/2010/main" val="113034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ZoneTexte 7"/>
          <p:cNvSpPr txBox="1"/>
          <p:nvPr/>
        </p:nvSpPr>
        <p:spPr>
          <a:xfrm>
            <a:off x="630770" y="1355285"/>
            <a:ext cx="7977753" cy="2638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200000"/>
              </a:lnSpc>
            </a:pPr>
            <a:r>
              <a:rPr lang="en-GB" sz="1700" b="1" u="sng" dirty="0">
                <a:latin typeface="Book Antiqua" panose="02040602050305030304" pitchFamily="18" charset="0"/>
                <a:cs typeface="Book Antiqua"/>
              </a:rPr>
              <a:t>To be able to use SAS procedures to:</a:t>
            </a:r>
          </a:p>
          <a:p>
            <a:pPr lvl="1">
              <a:lnSpc>
                <a:spcPct val="200000"/>
              </a:lnSpc>
            </a:pPr>
            <a:r>
              <a:rPr lang="en-GB" sz="1700" dirty="0">
                <a:latin typeface="Book Antiqua" panose="02040602050305030304" pitchFamily="18" charset="0"/>
                <a:cs typeface="Book Antiqua"/>
              </a:rPr>
              <a:t>	Compare two independent samples (Wilcoxon-Mann-Whitney)</a:t>
            </a:r>
          </a:p>
          <a:p>
            <a:pPr lvl="1">
              <a:lnSpc>
                <a:spcPct val="200000"/>
              </a:lnSpc>
            </a:pPr>
            <a:r>
              <a:rPr lang="en-GB" sz="1700" dirty="0">
                <a:latin typeface="Book Antiqua" panose="02040602050305030304" pitchFamily="18" charset="0"/>
                <a:cs typeface="Book Antiqua"/>
              </a:rPr>
              <a:t>	Compare </a:t>
            </a:r>
            <a:r>
              <a:rPr lang="en-GB" sz="1700" i="1" dirty="0">
                <a:latin typeface="Book Antiqua" panose="02040602050305030304" pitchFamily="18" charset="0"/>
                <a:cs typeface="Book Antiqua"/>
              </a:rPr>
              <a:t>k</a:t>
            </a:r>
            <a:r>
              <a:rPr lang="en-GB" sz="1700" dirty="0">
                <a:latin typeface="Book Antiqua" panose="02040602050305030304" pitchFamily="18" charset="0"/>
                <a:cs typeface="Book Antiqua"/>
              </a:rPr>
              <a:t> independent samples (</a:t>
            </a:r>
            <a:r>
              <a:rPr lang="en-GB" sz="1700" dirty="0" err="1">
                <a:latin typeface="Book Antiqua" panose="02040602050305030304" pitchFamily="18" charset="0"/>
                <a:cs typeface="Book Antiqua"/>
              </a:rPr>
              <a:t>Kruskal</a:t>
            </a:r>
            <a:r>
              <a:rPr lang="en-GB" sz="1700" dirty="0">
                <a:latin typeface="Book Antiqua" panose="02040602050305030304" pitchFamily="18" charset="0"/>
                <a:cs typeface="Book Antiqua"/>
              </a:rPr>
              <a:t>-Wallis)</a:t>
            </a:r>
          </a:p>
          <a:p>
            <a:pPr lvl="1">
              <a:lnSpc>
                <a:spcPct val="200000"/>
              </a:lnSpc>
            </a:pPr>
            <a:r>
              <a:rPr lang="en-GB" sz="1700" dirty="0">
                <a:latin typeface="Book Antiqua" panose="02040602050305030304" pitchFamily="18" charset="0"/>
                <a:cs typeface="Book Antiqua"/>
              </a:rPr>
              <a:t>	Compare two dependent (Paired) samples.</a:t>
            </a:r>
          </a:p>
          <a:p>
            <a:pPr lvl="1">
              <a:lnSpc>
                <a:spcPct val="200000"/>
              </a:lnSpc>
            </a:pPr>
            <a:r>
              <a:rPr lang="en-GB" sz="1700" dirty="0">
                <a:latin typeface="Book Antiqua" panose="02040602050305030304" pitchFamily="18" charset="0"/>
                <a:cs typeface="Book Antiqua"/>
              </a:rPr>
              <a:t>	Compare </a:t>
            </a:r>
            <a:r>
              <a:rPr lang="en-GB" sz="1700" i="1" dirty="0">
                <a:latin typeface="Book Antiqua" panose="02040602050305030304" pitchFamily="18" charset="0"/>
                <a:cs typeface="Book Antiqua"/>
              </a:rPr>
              <a:t>k</a:t>
            </a:r>
            <a:r>
              <a:rPr lang="en-GB" sz="1700" dirty="0">
                <a:latin typeface="Book Antiqua" panose="02040602050305030304" pitchFamily="18" charset="0"/>
                <a:cs typeface="Book Antiqua"/>
              </a:rPr>
              <a:t> dependent samples (</a:t>
            </a:r>
            <a:r>
              <a:rPr lang="en-GB" sz="1700" dirty="0" err="1">
                <a:latin typeface="Book Antiqua" panose="02040602050305030304" pitchFamily="18" charset="0"/>
                <a:cs typeface="Book Antiqua"/>
              </a:rPr>
              <a:t>Friedmans</a:t>
            </a:r>
            <a:r>
              <a:rPr lang="en-GB" sz="1700" dirty="0">
                <a:latin typeface="Book Antiqua" panose="02040602050305030304" pitchFamily="18" charset="0"/>
                <a:cs typeface="Book Antiqua"/>
              </a:rPr>
              <a:t> test)</a:t>
            </a:r>
            <a:endParaRPr lang="en-GB" sz="1700" i="1" dirty="0">
              <a:latin typeface="Book Antiqua" panose="02040602050305030304" pitchFamily="18" charset="0"/>
              <a:cs typeface="Book Antiqua"/>
            </a:endParaRPr>
          </a:p>
        </p:txBody>
      </p:sp>
      <p:sp>
        <p:nvSpPr>
          <p:cNvPr id="7" name="ZoneTexte 10"/>
          <p:cNvSpPr txBox="1"/>
          <p:nvPr/>
        </p:nvSpPr>
        <p:spPr>
          <a:xfrm>
            <a:off x="1613222" y="523443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cap="small" dirty="0">
                <a:solidFill>
                  <a:srgbClr val="342E2B"/>
                </a:solidFill>
                <a:latin typeface="Book Antiqua"/>
                <a:cs typeface="Book Antiqua"/>
              </a:rPr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328452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7"/>
          <p:cNvSpPr txBox="1"/>
          <p:nvPr/>
        </p:nvSpPr>
        <p:spPr>
          <a:xfrm>
            <a:off x="0" y="723498"/>
            <a:ext cx="9092652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u="sng" noProof="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Comparing two independent samples using PROC NPAR1WAY:</a:t>
            </a:r>
          </a:p>
          <a:p>
            <a:pPr marR="0" lvl="1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500" b="1" u="sng" noProof="0" dirty="0">
              <a:solidFill>
                <a:prstClr val="black"/>
              </a:solidFill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noProof="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Within a non-parametric test one can compare two or more independent groups. furthermore, one can not make the assumption that the data observed follows a normal distribution.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500" noProof="0" dirty="0">
              <a:solidFill>
                <a:prstClr val="black"/>
              </a:solidFill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500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It is a useful</a:t>
            </a:r>
            <a:r>
              <a:rPr kumimoji="0" lang="en-GB" sz="1500" strike="noStrike" kern="1200" cap="none" spc="0" normalizeH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technique if you do not have the exact values for the observations but when you 	do have order statistics; in which you don’t know the actual response values, but you know which is the largest.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1500" strike="noStrike" kern="1200" cap="none" spc="0" normalizeH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When the two-sided p-value for the Exact test is &lt;0.05 then the two groups do not have the same distribution, therefore they come from different populations.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1500" strike="noStrike" kern="1200" cap="none" spc="0" normalizeH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  <a:p>
            <a:pPr lvl="5">
              <a:lnSpc>
                <a:spcPct val="200000"/>
              </a:lnSpc>
            </a:pPr>
            <a:r>
              <a:rPr lang="en-GB" sz="15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		</a:t>
            </a:r>
            <a:r>
              <a:rPr lang="en-GB" sz="1500" b="1" u="sng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Hypotheses tested</a:t>
            </a:r>
            <a:r>
              <a:rPr lang="en-GB" sz="15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:</a:t>
            </a:r>
            <a:endParaRPr kumimoji="0" lang="en-GB" sz="1500" strike="noStrike" kern="1200" cap="none" spc="0" normalizeH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  <a:p>
            <a:pPr lvl="2">
              <a:lnSpc>
                <a:spcPct val="200000"/>
              </a:lnSpc>
            </a:pPr>
            <a:r>
              <a:rPr lang="en-GB" sz="1500" i="1" dirty="0" err="1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H</a:t>
            </a:r>
            <a:r>
              <a:rPr lang="en-GB" sz="1500" dirty="0" err="1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o</a:t>
            </a:r>
            <a:r>
              <a:rPr lang="en-GB" sz="15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: The two groups have the same distribution (They come from the same population)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	</a:t>
            </a:r>
            <a:r>
              <a:rPr lang="en-GB" sz="1500" i="1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H</a:t>
            </a:r>
            <a:r>
              <a:rPr lang="en-GB" sz="15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a: The two groups do not have the same distributions (They come from different populations)</a:t>
            </a:r>
            <a:endParaRPr kumimoji="0" lang="en-GB" sz="150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</p:txBody>
      </p:sp>
      <p:sp>
        <p:nvSpPr>
          <p:cNvPr id="7" name="ZoneTexte 10"/>
          <p:cNvSpPr txBox="1"/>
          <p:nvPr/>
        </p:nvSpPr>
        <p:spPr>
          <a:xfrm>
            <a:off x="1711696" y="210678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NPAR1WAY</a:t>
            </a:r>
          </a:p>
        </p:txBody>
      </p:sp>
    </p:spTree>
    <p:extLst>
      <p:ext uri="{BB962C8B-B14F-4D97-AF65-F5344CB8AC3E}">
        <p14:creationId xmlns:p14="http://schemas.microsoft.com/office/powerpoint/2010/main" val="396334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7"/>
          <p:cNvSpPr txBox="1"/>
          <p:nvPr/>
        </p:nvSpPr>
        <p:spPr>
          <a:xfrm>
            <a:off x="194671" y="770488"/>
            <a:ext cx="7977753" cy="544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The</a:t>
            </a:r>
            <a:r>
              <a:rPr kumimoji="0" lang="en-GB" sz="1600" b="1" i="0" u="sng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Wilcoxon Scores Table: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noProof="0" dirty="0">
                <a:latin typeface="Book Antiqua" panose="02040602050305030304" pitchFamily="18" charset="0"/>
                <a:cs typeface="Book Antiqua"/>
              </a:rPr>
              <a:t>Provides summary statistics for the data which reports on an array of approximate p-values for the Wilcoxon Test. (Both one and two-sided)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600" noProof="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dirty="0">
                <a:latin typeface="Book Antiqua" panose="02040602050305030304" pitchFamily="18" charset="0"/>
                <a:cs typeface="Book Antiqua"/>
              </a:rPr>
              <a:t>The </a:t>
            </a:r>
            <a:r>
              <a:rPr lang="en-GB" sz="1600" dirty="0" err="1">
                <a:latin typeface="Book Antiqua" panose="02040602050305030304" pitchFamily="18" charset="0"/>
                <a:cs typeface="Book Antiqua"/>
              </a:rPr>
              <a:t>Kruskal</a:t>
            </a:r>
            <a:r>
              <a:rPr lang="en-GB" sz="1600" dirty="0">
                <a:latin typeface="Book Antiqua" panose="02040602050305030304" pitchFamily="18" charset="0"/>
                <a:cs typeface="Book Antiqua"/>
              </a:rPr>
              <a:t>-Wallis test is an extension of the Wilcoxon-Mann-Whitey test which is appropriate for two or more independent samples.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60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dirty="0">
                <a:latin typeface="Book Antiqua" panose="02040602050305030304" pitchFamily="18" charset="0"/>
                <a:cs typeface="Book Antiqua"/>
              </a:rPr>
              <a:t>The </a:t>
            </a:r>
            <a:r>
              <a:rPr lang="en-GB" sz="1600" dirty="0" err="1">
                <a:latin typeface="Book Antiqua" panose="02040602050305030304" pitchFamily="18" charset="0"/>
                <a:cs typeface="Book Antiqua"/>
              </a:rPr>
              <a:t>Kruskal</a:t>
            </a:r>
            <a:r>
              <a:rPr lang="en-GB" sz="1600" dirty="0">
                <a:latin typeface="Book Antiqua" panose="02040602050305030304" pitchFamily="18" charset="0"/>
                <a:cs typeface="Book Antiqua"/>
              </a:rPr>
              <a:t>-Wallis p-value is a result of the chi-square approximation.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60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i="0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The</a:t>
            </a:r>
            <a:r>
              <a:rPr kumimoji="0" lang="en-GB" sz="1600" i="0" strike="noStrike" kern="1200" cap="none" spc="0" normalizeH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EXACT statement </a:t>
            </a:r>
            <a:r>
              <a:rPr lang="en-GB" sz="1600" dirty="0">
                <a:latin typeface="Book Antiqua" panose="02040602050305030304" pitchFamily="18" charset="0"/>
                <a:cs typeface="Book Antiqua"/>
              </a:rPr>
              <a:t>results in an exact p-value which is recommended to be used (Appropriate for testing the hypothesis as stated earlier)</a:t>
            </a:r>
            <a:endParaRPr kumimoji="0" lang="en-GB" sz="1600" i="0" strike="noStrike" kern="1200" cap="none" spc="0" normalizeH="0" baseline="0" dirty="0">
              <a:ln>
                <a:noFill/>
              </a:ln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</p:txBody>
      </p:sp>
      <p:sp>
        <p:nvSpPr>
          <p:cNvPr id="7" name="ZoneTexte 10"/>
          <p:cNvSpPr txBox="1"/>
          <p:nvPr/>
        </p:nvSpPr>
        <p:spPr>
          <a:xfrm>
            <a:off x="1613222" y="323388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NPAR1WAY</a:t>
            </a:r>
          </a:p>
        </p:txBody>
      </p:sp>
    </p:spTree>
    <p:extLst>
      <p:ext uri="{BB962C8B-B14F-4D97-AF65-F5344CB8AC3E}">
        <p14:creationId xmlns:p14="http://schemas.microsoft.com/office/powerpoint/2010/main" val="3745174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7"/>
          <p:cNvSpPr txBox="1"/>
          <p:nvPr/>
        </p:nvSpPr>
        <p:spPr>
          <a:xfrm>
            <a:off x="0" y="2195432"/>
            <a:ext cx="9158068" cy="435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50" b="1" u="sng" dirty="0">
                <a:latin typeface="Book Antiqua" panose="02040602050305030304" pitchFamily="18" charset="0"/>
                <a:cs typeface="Book Antiqua"/>
              </a:rPr>
              <a:t>The syntax for PROC NPAR1WAY: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50" dirty="0">
                <a:latin typeface="Book Antiqua" panose="02040602050305030304" pitchFamily="18" charset="0"/>
                <a:cs typeface="Book Antiqua"/>
              </a:rPr>
              <a:t>	PROC NPAR1WAY &lt;Options&gt;; Statements;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55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550" b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These</a:t>
            </a:r>
            <a:r>
              <a:rPr kumimoji="0" lang="en-GB" sz="1550" b="1" u="sng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are commonly used options for PROC NPAR1WAY: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50" noProof="0" dirty="0">
                <a:latin typeface="Book Antiqua" panose="02040602050305030304" pitchFamily="18" charset="0"/>
                <a:cs typeface="Book Antiqua"/>
              </a:rPr>
              <a:t>	DATA</a:t>
            </a:r>
            <a:r>
              <a:rPr lang="en-GB" sz="1550" dirty="0">
                <a:latin typeface="Book Antiqua" panose="02040602050305030304" pitchFamily="18" charset="0"/>
                <a:cs typeface="Book Antiqua"/>
              </a:rPr>
              <a:t>= Specifies the dataset that will be used.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50" noProof="0" dirty="0">
                <a:latin typeface="Book Antiqua" panose="02040602050305030304" pitchFamily="18" charset="0"/>
                <a:cs typeface="Book Antiqua"/>
              </a:rPr>
              <a:t>	WILCOXON = limits the output of results to just the Wilcoxon-Mann-Whitey Test.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550" noProof="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50" b="1" u="sng" noProof="0" dirty="0">
                <a:latin typeface="Book Antiqua" panose="02040602050305030304" pitchFamily="18" charset="0"/>
                <a:cs typeface="Book Antiqua"/>
              </a:rPr>
              <a:t>Below are the following commonly used statements for PROC NPAR1WAY: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50" noProof="0" dirty="0">
                <a:latin typeface="Book Antiqua" panose="02040602050305030304" pitchFamily="18" charset="0"/>
                <a:cs typeface="Book Antiqua"/>
              </a:rPr>
              <a:t>	CLASS = Specifying the grouping variable.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50" dirty="0">
                <a:latin typeface="Book Antiqua" panose="02040602050305030304" pitchFamily="18" charset="0"/>
                <a:cs typeface="Book Antiqua"/>
              </a:rPr>
              <a:t>	VAR= listing the dependent variable to be examined.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50" noProof="0" dirty="0">
                <a:latin typeface="Book Antiqua" panose="02040602050305030304" pitchFamily="18" charset="0"/>
                <a:cs typeface="Book Antiqua"/>
              </a:rPr>
              <a:t>	EXACT = requesting for particular p-values.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550" noProof="0" dirty="0">
              <a:latin typeface="Book Antiqua" panose="02040602050305030304" pitchFamily="18" charset="0"/>
              <a:cs typeface="Book Antiqua"/>
            </a:endParaRPr>
          </a:p>
        </p:txBody>
      </p:sp>
      <p:sp>
        <p:nvSpPr>
          <p:cNvPr id="7" name="ZoneTexte 10"/>
          <p:cNvSpPr txBox="1"/>
          <p:nvPr/>
        </p:nvSpPr>
        <p:spPr>
          <a:xfrm>
            <a:off x="1613222" y="210678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NPAR1WAY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316098" y="6112733"/>
            <a:ext cx="6060738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ANPAR1.SAS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  <p:sp>
        <p:nvSpPr>
          <p:cNvPr id="9" name="ZoneTexte 7"/>
          <p:cNvSpPr txBox="1"/>
          <p:nvPr/>
        </p:nvSpPr>
        <p:spPr>
          <a:xfrm>
            <a:off x="1895696" y="718105"/>
            <a:ext cx="5921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PROC NPAR1WAY DATA = SAS DATASET &lt;Options&gt;;</a:t>
            </a:r>
          </a:p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	CLASS </a:t>
            </a:r>
            <a:r>
              <a:rPr lang="en-GB" sz="1500" dirty="0">
                <a:latin typeface="Book Antiqua"/>
                <a:cs typeface="Book Antiqua"/>
              </a:rPr>
              <a:t>grouping </a:t>
            </a:r>
            <a:r>
              <a:rPr lang="en-GB" sz="1500" i="1" dirty="0">
                <a:latin typeface="Book Antiqua"/>
                <a:cs typeface="Book Antiqua"/>
              </a:rPr>
              <a:t>variable;</a:t>
            </a:r>
          </a:p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i="1" dirty="0">
                <a:latin typeface="Book Antiqua"/>
                <a:cs typeface="Book Antiqua"/>
              </a:rPr>
              <a:t>	</a:t>
            </a:r>
            <a:r>
              <a:rPr lang="en-GB" sz="1500" b="1" dirty="0">
                <a:latin typeface="Book Antiqua"/>
                <a:cs typeface="Book Antiqua"/>
              </a:rPr>
              <a:t>VAR </a:t>
            </a:r>
            <a:r>
              <a:rPr lang="en-GB" sz="1500" dirty="0">
                <a:latin typeface="Book Antiqua"/>
                <a:cs typeface="Book Antiqua"/>
              </a:rPr>
              <a:t>dependent variable;</a:t>
            </a:r>
          </a:p>
          <a:p>
            <a:pPr lvl="2">
              <a:defRPr/>
            </a:pPr>
            <a:r>
              <a:rPr lang="en-GB" sz="1500" b="1" dirty="0">
                <a:latin typeface="Book Antiqua"/>
                <a:cs typeface="Book Antiqua"/>
              </a:rPr>
              <a:t>	EXACT </a:t>
            </a:r>
            <a:r>
              <a:rPr lang="en-GB" sz="1500" i="1" dirty="0">
                <a:latin typeface="Book Antiqua"/>
                <a:cs typeface="Book Antiqua"/>
              </a:rPr>
              <a:t>;</a:t>
            </a:r>
          </a:p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RUN;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883072"/>
              </p:ext>
            </p:extLst>
          </p:nvPr>
        </p:nvGraphicFramePr>
        <p:xfrm>
          <a:off x="2831017" y="754985"/>
          <a:ext cx="4118423" cy="1440447"/>
        </p:xfrm>
        <a:graphic>
          <a:graphicData uri="http://schemas.openxmlformats.org/drawingml/2006/table">
            <a:tbl>
              <a:tblPr/>
              <a:tblGrid>
                <a:gridCol w="4118423">
                  <a:extLst>
                    <a:ext uri="{9D8B030D-6E8A-4147-A177-3AD203B41FA5}">
                      <a16:colId xmlns:a16="http://schemas.microsoft.com/office/drawing/2014/main" val="671865307"/>
                    </a:ext>
                  </a:extLst>
                </a:gridCol>
              </a:tblGrid>
              <a:tr h="1440447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745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25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7"/>
          <p:cNvSpPr txBox="1"/>
          <p:nvPr/>
        </p:nvSpPr>
        <p:spPr>
          <a:xfrm>
            <a:off x="630770" y="1355285"/>
            <a:ext cx="8705141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Comparing </a:t>
            </a:r>
            <a:r>
              <a:rPr kumimoji="0" lang="en-GB" sz="17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k </a:t>
            </a:r>
            <a:r>
              <a:rPr kumimoji="0" lang="en-GB" sz="1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independent samples (</a:t>
            </a:r>
            <a:r>
              <a:rPr kumimoji="0" lang="en-GB" sz="17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Kruskal</a:t>
            </a:r>
            <a:r>
              <a:rPr kumimoji="0" lang="en-GB" sz="1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-Wallis) using PROC NPAR1WAY: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</a:rPr>
              <a:t>If there are more than two independent groups that are being compared using nonparametric methods.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700" dirty="0">
                <a:solidFill>
                  <a:prstClr val="black"/>
                </a:solidFill>
                <a:latin typeface="Book Antiqua" panose="02040602050305030304" pitchFamily="18" charset="0"/>
              </a:rPr>
              <a:t>If the </a:t>
            </a:r>
            <a:r>
              <a:rPr lang="en-GB" sz="1700" dirty="0" err="1">
                <a:solidFill>
                  <a:prstClr val="black"/>
                </a:solidFill>
                <a:latin typeface="Book Antiqua" panose="02040602050305030304" pitchFamily="18" charset="0"/>
              </a:rPr>
              <a:t>Kruskal-wallis</a:t>
            </a:r>
            <a:r>
              <a:rPr lang="en-GB" sz="1700" dirty="0">
                <a:solidFill>
                  <a:prstClr val="black"/>
                </a:solidFill>
                <a:latin typeface="Book Antiqua" panose="02040602050305030304" pitchFamily="18" charset="0"/>
              </a:rPr>
              <a:t> test report &lt; 0.05 then there are differences among the distributions of the groups.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286000" marR="0" lvl="5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		</a:t>
            </a:r>
            <a:r>
              <a:rPr kumimoji="0" lang="en-GB" sz="1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Hypotheses tested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:</a:t>
            </a:r>
          </a:p>
          <a:p>
            <a:pPr marL="914400" marR="0" lvl="2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	</a:t>
            </a:r>
            <a:r>
              <a:rPr kumimoji="0" lang="en-GB" sz="17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H</a:t>
            </a:r>
            <a:r>
              <a:rPr kumimoji="0" lang="en-GB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o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: There is no difference among the distributions of the groups.</a:t>
            </a:r>
          </a:p>
          <a:p>
            <a:pPr marL="914400" marR="0" lvl="2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	H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a: There are differences among the distributions of the groups.</a:t>
            </a:r>
          </a:p>
        </p:txBody>
      </p:sp>
      <p:sp>
        <p:nvSpPr>
          <p:cNvPr id="7" name="ZoneTexte 10"/>
          <p:cNvSpPr txBox="1"/>
          <p:nvPr/>
        </p:nvSpPr>
        <p:spPr>
          <a:xfrm>
            <a:off x="1613222" y="523443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NPAR1WAY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299226" y="6084751"/>
            <a:ext cx="6060738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3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ANPAR2.SAS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87916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7"/>
          <p:cNvSpPr txBox="1"/>
          <p:nvPr/>
        </p:nvSpPr>
        <p:spPr>
          <a:xfrm>
            <a:off x="321280" y="1355285"/>
            <a:ext cx="94557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Comparing</a:t>
            </a:r>
            <a:r>
              <a:rPr kumimoji="0" lang="en-GB" sz="1600" b="1" i="0" u="sng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</a:t>
            </a:r>
            <a:r>
              <a:rPr lang="en-GB" sz="1600" b="1" u="sng" noProof="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two dependent </a:t>
            </a:r>
            <a:r>
              <a:rPr kumimoji="0" lang="en-GB" sz="1600" b="1" u="sng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(PAIRED) </a:t>
            </a:r>
            <a:r>
              <a:rPr lang="en-GB" sz="1600" b="1" u="sng" noProof="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samples using</a:t>
            </a:r>
            <a:r>
              <a:rPr kumimoji="0" lang="en-GB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PROC UNIVARIATE:</a:t>
            </a:r>
          </a:p>
          <a:p>
            <a:pPr marL="742950" marR="0" lvl="1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  <a:p>
            <a:pPr lvl="5">
              <a:lnSpc>
                <a:spcPct val="200000"/>
              </a:lnSpc>
              <a:defRPr/>
            </a:pPr>
            <a:r>
              <a:rPr lang="en-GB" sz="16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	           </a:t>
            </a:r>
            <a:r>
              <a:rPr lang="en-GB" sz="1600" b="1" u="sng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Hypotheses tested</a:t>
            </a:r>
            <a:r>
              <a:rPr lang="en-GB" sz="16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:</a:t>
            </a:r>
          </a:p>
          <a:p>
            <a:pPr lvl="2">
              <a:lnSpc>
                <a:spcPct val="200000"/>
              </a:lnSpc>
              <a:defRPr/>
            </a:pPr>
            <a:r>
              <a:rPr lang="en-GB" sz="1600" i="1" dirty="0" err="1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H</a:t>
            </a:r>
            <a:r>
              <a:rPr lang="en-GB" sz="1600" dirty="0" err="1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o</a:t>
            </a:r>
            <a:r>
              <a:rPr lang="en-GB" sz="16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: The probability of a positive difference is the same as that of a negative difference.</a:t>
            </a:r>
          </a:p>
          <a:p>
            <a:pPr lvl="2">
              <a:lnSpc>
                <a:spcPct val="200000"/>
              </a:lnSpc>
              <a:defRPr/>
            </a:pPr>
            <a:r>
              <a:rPr lang="en-GB" sz="1600" i="1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H</a:t>
            </a:r>
            <a:r>
              <a:rPr lang="en-GB" sz="16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a: The probability of a positive difference is different from that of a negative difference.</a:t>
            </a:r>
            <a:endParaRPr kumimoji="0" lang="en-GB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</p:txBody>
      </p:sp>
      <p:sp>
        <p:nvSpPr>
          <p:cNvPr id="7" name="ZoneTexte 10"/>
          <p:cNvSpPr txBox="1"/>
          <p:nvPr/>
        </p:nvSpPr>
        <p:spPr>
          <a:xfrm>
            <a:off x="1613222" y="523443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</a:t>
            </a:r>
            <a:r>
              <a:rPr kumimoji="0" lang="en-GB" sz="2000" b="1" i="0" u="none" strike="noStrike" kern="1200" cap="small" spc="0" normalizeH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 UNIVARIATE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964247" y="6102858"/>
            <a:ext cx="7531319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AUNIPAIRED.SAS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598513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7"/>
          <p:cNvSpPr txBox="1"/>
          <p:nvPr/>
        </p:nvSpPr>
        <p:spPr>
          <a:xfrm>
            <a:off x="630770" y="1360072"/>
            <a:ext cx="927523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Comparing </a:t>
            </a:r>
            <a:r>
              <a:rPr lang="en-GB" sz="1700" b="1" i="1" u="sng" noProof="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k</a:t>
            </a:r>
            <a:r>
              <a:rPr kumimoji="0" lang="en-GB" sz="1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dependent samples (</a:t>
            </a:r>
            <a:r>
              <a:rPr kumimoji="0" lang="en-GB" sz="17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Freidmans</a:t>
            </a:r>
            <a:r>
              <a:rPr kumimoji="0" lang="en-GB" sz="1700" b="1" i="0" u="sng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Test)</a:t>
            </a:r>
            <a:r>
              <a:rPr kumimoji="0" lang="en-GB" sz="1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using PROC FREQ:</a:t>
            </a:r>
          </a:p>
          <a:p>
            <a:pPr marL="742950" marR="0" lvl="1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7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  <a:p>
            <a:pPr marL="2286000" marR="0" lvl="5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	  </a:t>
            </a:r>
            <a:r>
              <a:rPr kumimoji="0" lang="en-GB" sz="1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Hypotheses tested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:</a:t>
            </a:r>
          </a:p>
          <a:p>
            <a:pPr marL="914400" marR="0" lvl="2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H</a:t>
            </a:r>
            <a:r>
              <a:rPr kumimoji="0" lang="en-GB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o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: The distributions</a:t>
            </a:r>
            <a:r>
              <a:rPr kumimoji="0" lang="en-GB" sz="17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are the same across the repeated measures.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  <a:p>
            <a:pPr marL="914400" marR="0" lvl="2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H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a: There</a:t>
            </a:r>
            <a:r>
              <a:rPr kumimoji="0" lang="en-GB" sz="17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are some differences in distributions across the repeated measures.</a:t>
            </a:r>
            <a:endParaRPr kumimoji="0" lang="en-GB" sz="17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</p:txBody>
      </p:sp>
      <p:sp>
        <p:nvSpPr>
          <p:cNvPr id="7" name="ZoneTexte 10"/>
          <p:cNvSpPr txBox="1"/>
          <p:nvPr/>
        </p:nvSpPr>
        <p:spPr>
          <a:xfrm>
            <a:off x="1613222" y="523443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NPAR1WAY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995538" y="6076368"/>
            <a:ext cx="7531319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3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AFRIEDMAN.SAS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4225328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br>
              <a:rPr lang="en-ZA" sz="2400" b="1" dirty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0228" y="2293875"/>
            <a:ext cx="2245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3600" dirty="0">
                <a:solidFill>
                  <a:prstClr val="white"/>
                </a:solidFill>
                <a:latin typeface="Calibri"/>
              </a:rPr>
              <a:t>Study –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3600" dirty="0">
                <a:solidFill>
                  <a:prstClr val="white"/>
                </a:solidFill>
                <a:latin typeface="Calibri"/>
              </a:rPr>
              <a:t>Chapter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6730" y="5117023"/>
            <a:ext cx="3024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Matthew Valentine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Office: Tech Room Lab K2</a:t>
            </a:r>
          </a:p>
          <a:p>
            <a:pPr lvl="0">
              <a:defRPr/>
            </a:pPr>
            <a:r>
              <a:rPr lang="en-ZA" sz="2000" b="1" spc="5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mvalentine@uwc.ac.za</a:t>
            </a:r>
            <a:endParaRPr kumimoji="0" lang="en-ZA" sz="2000" b="1" i="0" u="none" strike="noStrike" kern="1200" cap="none" spc="50" normalizeH="0" baseline="0" noProof="0" dirty="0">
              <a:ln w="0"/>
              <a:solidFill>
                <a:srgbClr val="EEECE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51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9614</TotalTime>
  <Words>672</Words>
  <Application>Microsoft Office PowerPoint</Application>
  <PresentationFormat>A4 Paper (210x297 mm)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Baskerville Old Face</vt:lpstr>
      <vt:lpstr>Book Antiqua</vt:lpstr>
      <vt:lpstr>Calibri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NDorfling</dc:creator>
  <cp:lastModifiedBy>Matthew Valentine</cp:lastModifiedBy>
  <cp:revision>651</cp:revision>
  <dcterms:created xsi:type="dcterms:W3CDTF">2015-03-11T08:56:03Z</dcterms:created>
  <dcterms:modified xsi:type="dcterms:W3CDTF">2025-08-24T10:11:05Z</dcterms:modified>
</cp:coreProperties>
</file>